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Inter" panose="020B0604020202020204" charset="0"/>
      <p:regular r:id="rId17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EA2D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>
        <p:scale>
          <a:sx n="150" d="100"/>
          <a:sy n="150" d="100"/>
        </p:scale>
        <p:origin x="-510" y="-19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499DBF-7E57-4D58-8742-848215BC9634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9FCE9E-7BCE-48EB-880C-5CC4F726B1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33977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6AA59-4480-4027-AF0C-83A5C8470AAB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599D1-55AE-49A1-B747-3C19587224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138289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6AA59-4480-4027-AF0C-83A5C8470AAB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599D1-55AE-49A1-B747-3C19587224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81042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6AA59-4480-4027-AF0C-83A5C8470AAB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599D1-55AE-49A1-B747-3C19587224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776386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6AA59-4480-4027-AF0C-83A5C8470AAB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599D1-55AE-49A1-B747-3C19587224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760883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6AA59-4480-4027-AF0C-83A5C8470AAB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599D1-55AE-49A1-B747-3C19587224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274688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6AA59-4480-4027-AF0C-83A5C8470AAB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599D1-55AE-49A1-B747-3C19587224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733581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6AA59-4480-4027-AF0C-83A5C8470AAB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599D1-55AE-49A1-B747-3C19587224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544362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6AA59-4480-4027-AF0C-83A5C8470AAB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599D1-55AE-49A1-B747-3C19587224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597934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6AA59-4480-4027-AF0C-83A5C8470AAB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599D1-55AE-49A1-B747-3C19587224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757953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6AA59-4480-4027-AF0C-83A5C8470AAB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599D1-55AE-49A1-B747-3C19587224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246026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6AA59-4480-4027-AF0C-83A5C8470AAB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599D1-55AE-49A1-B747-3C19587224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067602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26AA59-4480-4027-AF0C-83A5C8470AAB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F599D1-55AE-49A1-B747-3C19587224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7868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96119" y="1283047"/>
            <a:ext cx="3377729" cy="266402"/>
          </a:xfrm>
          <a:prstGeom prst="roundRect">
            <a:avLst>
              <a:gd name="adj" fmla="val 17880"/>
            </a:avLst>
          </a:prstGeom>
          <a:solidFill>
            <a:srgbClr val="00EA2D">
              <a:alpha val="67059"/>
            </a:srgbClr>
          </a:solidFill>
          <a:ln>
            <a:solidFill>
              <a:schemeClr val="bg1">
                <a:lumMod val="65000"/>
              </a:schemeClr>
            </a:solidFill>
          </a:ln>
        </p:spPr>
      </p:sp>
      <p:sp>
        <p:nvSpPr>
          <p:cNvPr id="4" name="Text 1"/>
          <p:cNvSpPr/>
          <p:nvPr/>
        </p:nvSpPr>
        <p:spPr>
          <a:xfrm>
            <a:off x="581174" y="1325537"/>
            <a:ext cx="3292674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 smtClean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КУРСОВОЙ </a:t>
            </a:r>
            <a:r>
              <a:rPr lang="en-US" sz="85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ПРОЕКТ · ЦИФРОВЫЕ ПЛАТФОРМЫ · 2026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496118" y="1668908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 smtClean="0">
                <a:solidFill>
                  <a:schemeClr val="bg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15</a:t>
            </a:r>
            <a:r>
              <a:rPr lang="ru-RU" sz="2750" b="1" dirty="0" smtClean="0">
                <a:solidFill>
                  <a:schemeClr val="bg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</a:t>
            </a:r>
            <a:r>
              <a:rPr lang="en-US" sz="2750" b="1" dirty="0" smtClean="0">
                <a:solidFill>
                  <a:schemeClr val="bg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PUZZLE</a:t>
            </a:r>
            <a:endParaRPr lang="en-US" sz="2750" dirty="0">
              <a:solidFill>
                <a:schemeClr val="bg1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496119" y="2334592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Цифровая логическая реализация игры «Пятнашки» в среде Logisim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496119" y="2947690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Авторы: </a:t>
            </a:r>
            <a:r>
              <a:rPr lang="en-US" sz="1100" b="1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Бронский </a:t>
            </a:r>
            <a:r>
              <a:rPr lang="en-US" sz="1100" b="1" dirty="0" smtClean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Семён</a:t>
            </a:r>
            <a:r>
              <a:rPr lang="ru-RU" sz="1100" b="1" dirty="0" smtClean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100" b="1" dirty="0" smtClean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Кривцов Данил</a:t>
            </a:r>
            <a:r>
              <a:rPr lang="ru-RU" sz="1100" b="1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</a:t>
            </a:r>
            <a:r>
              <a:rPr lang="en-US" sz="1100" b="1" dirty="0" smtClean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100" b="1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Неклюдов Тимофей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496119" y="3333973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Новосибирский государственный университет · 09.03.03 «Прикладная информатика», профиль «Прикладной ИИ»</a:t>
            </a:r>
            <a:endParaRPr lang="en-US" sz="1100" dirty="0">
              <a:solidFill>
                <a:schemeClr val="bg1"/>
              </a:solidFill>
            </a:endParaRPr>
          </a:p>
        </p:txBody>
      </p:sp>
      <p:pic>
        <p:nvPicPr>
          <p:cNvPr id="5122" name="Picture 2" descr="Picture backgroun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879" y="796745"/>
            <a:ext cx="3529321" cy="3529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35500"/>
            <a:ext cx="563399" cy="50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41871" y="389037"/>
            <a:ext cx="3613696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b="1" dirty="0">
                <a:solidFill>
                  <a:schemeClr val="bg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Цель проекта</a:t>
            </a:r>
            <a:endParaRPr lang="en-US" sz="2450" dirty="0">
              <a:solidFill>
                <a:schemeClr val="bg1"/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441871" y="1015702"/>
            <a:ext cx="4831259" cy="572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ru-RU" sz="950" dirty="0" smtClean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Создание </a:t>
            </a:r>
            <a:r>
              <a:rPr lang="en-US" sz="950" dirty="0" smtClean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интерактивн</a:t>
            </a:r>
            <a:r>
              <a:rPr lang="ru-RU" sz="950" dirty="0" smtClean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ой</a:t>
            </a:r>
            <a:r>
              <a:rPr lang="en-US" sz="950" dirty="0" smtClean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игр</a:t>
            </a:r>
            <a:r>
              <a:rPr lang="ru-RU" sz="950" dirty="0" smtClean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ы</a:t>
            </a:r>
            <a:r>
              <a:rPr lang="en-US" sz="950" dirty="0" smtClean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95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«Пятнашки» в Logisim с аппаратной реализацией всей игровой логики — без программного кода, только цифровые элементы.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5" name="Shape 2"/>
          <p:cNvSpPr/>
          <p:nvPr/>
        </p:nvSpPr>
        <p:spPr>
          <a:xfrm>
            <a:off x="441871" y="1919858"/>
            <a:ext cx="2359372" cy="1102271"/>
          </a:xfrm>
          <a:prstGeom prst="roundRect">
            <a:avLst>
              <a:gd name="adj" fmla="val 3334"/>
            </a:avLst>
          </a:prstGeom>
          <a:solidFill>
            <a:srgbClr val="00EA2D">
              <a:alpha val="67059"/>
            </a:srgbClr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72839" y="2053630"/>
            <a:ext cx="20354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chemeClr val="bg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Хранение поля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9" name="Text 5"/>
          <p:cNvSpPr/>
          <p:nvPr/>
        </p:nvSpPr>
        <p:spPr>
          <a:xfrm>
            <a:off x="572839" y="2318321"/>
            <a:ext cx="2097435" cy="572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 четырёхбитных регистров хранят состояние каждой клетки поля 4×4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10" name="Shape 6"/>
          <p:cNvSpPr/>
          <p:nvPr/>
        </p:nvSpPr>
        <p:spPr>
          <a:xfrm>
            <a:off x="2913683" y="1919858"/>
            <a:ext cx="2359447" cy="1102271"/>
          </a:xfrm>
          <a:prstGeom prst="roundRect">
            <a:avLst>
              <a:gd name="adj" fmla="val 3334"/>
            </a:avLst>
          </a:prstGeom>
          <a:solidFill>
            <a:srgbClr val="00EA2D">
              <a:alpha val="67059"/>
            </a:srgbClr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3044651" y="2053630"/>
            <a:ext cx="20354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chemeClr val="bg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Аппаратная логика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4" name="Text 9"/>
          <p:cNvSpPr/>
          <p:nvPr/>
        </p:nvSpPr>
        <p:spPr>
          <a:xfrm>
            <a:off x="3044651" y="2318321"/>
            <a:ext cx="2097509" cy="572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Обработка ходов через мультиплексоры, компараторы и логические элементы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15" name="Shape 10"/>
          <p:cNvSpPr/>
          <p:nvPr/>
        </p:nvSpPr>
        <p:spPr>
          <a:xfrm>
            <a:off x="441871" y="3564344"/>
            <a:ext cx="4831259" cy="969953"/>
          </a:xfrm>
          <a:prstGeom prst="roundRect">
            <a:avLst>
              <a:gd name="adj" fmla="val 3789"/>
            </a:avLst>
          </a:prstGeom>
          <a:solidFill>
            <a:srgbClr val="00EA2D">
              <a:alpha val="67059"/>
            </a:srgbClr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r>
              <a:rPr lang="ru-RU" dirty="0" smtClean="0"/>
              <a:t> </a:t>
            </a:r>
            <a:endParaRPr lang="ru-RU" dirty="0"/>
          </a:p>
        </p:txBody>
      </p:sp>
      <p:sp>
        <p:nvSpPr>
          <p:cNvPr id="18" name="Text 12"/>
          <p:cNvSpPr/>
          <p:nvPr/>
        </p:nvSpPr>
        <p:spPr>
          <a:xfrm>
            <a:off x="572839" y="3756744"/>
            <a:ext cx="20354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chemeClr val="bg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Отображение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9" name="Text 13"/>
          <p:cNvSpPr/>
          <p:nvPr/>
        </p:nvSpPr>
        <p:spPr>
          <a:xfrm>
            <a:off x="572839" y="4021435"/>
            <a:ext cx="4569321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Вывод состояния на матричные индикаторы через ROM-таблицы образов</a:t>
            </a:r>
            <a:endParaRPr lang="en-US" sz="950" dirty="0">
              <a:solidFill>
                <a:schemeClr val="bg1"/>
              </a:solidFill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7685" y="228599"/>
            <a:ext cx="4957663" cy="4914901"/>
          </a:xfrm>
          <a:prstGeom prst="rect">
            <a:avLst/>
          </a:prstGeom>
        </p:spPr>
      </p:pic>
      <p:pic>
        <p:nvPicPr>
          <p:cNvPr id="20" name="Рисунок 1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35500"/>
            <a:ext cx="563399" cy="50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3759" y="343942"/>
            <a:ext cx="4288854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b="1" dirty="0">
                <a:solidFill>
                  <a:schemeClr val="bg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Общая архитектура проекта</a:t>
            </a:r>
            <a:endParaRPr lang="en-US" sz="2050" dirty="0">
              <a:solidFill>
                <a:schemeClr val="bg1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903759" y="4501828"/>
            <a:ext cx="7336408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Все блоки работают синхронно: комбинационная логика вычисляет следующее состояние, регистры обновляются по единому тактовому сигналу.</a:t>
            </a:r>
            <a:endParaRPr lang="en-US" sz="1100" dirty="0">
              <a:solidFill>
                <a:schemeClr val="bg1"/>
              </a:solidFill>
            </a:endParaRPr>
          </a:p>
        </p:txBody>
      </p:sp>
      <p:pic>
        <p:nvPicPr>
          <p:cNvPr id="6146" name="Picture 2" descr="https://psv4.userapi.com/s/v1/d2/TOKD4BDQOf5f5WFJ3c19StJanFQurohMNqaukO_VcT9e-GnHsjx0nKGohGAXUz5xVAVITN002JAN3H2HBs0DMNi-OL84B5Kdq1prBjLh7br9dltsbchOiV3EgSQphdIg9ONJtiHj3YIV/e0f7241c-7f30-4bb0-9df2-39695eaa0553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5175" y="877094"/>
            <a:ext cx="4562475" cy="342185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35500"/>
            <a:ext cx="563399" cy="50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4787" y="350366"/>
            <a:ext cx="3560415" cy="311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chemeClr val="bg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Хранение игрового поля</a:t>
            </a:r>
            <a:endParaRPr lang="en-US" sz="195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1074785" y="1214412"/>
            <a:ext cx="2476293" cy="250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chemeClr val="bg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16 четырёхбитных регистров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074785" y="1547739"/>
            <a:ext cx="3560415" cy="655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Каждая клетка поля — отдельный регистр. Значение </a:t>
            </a:r>
            <a:r>
              <a:rPr lang="en-US" sz="1100" b="1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r>
              <a:rPr lang="en-US" sz="11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пустая клетка. На дисплее числа 10–15 отображаются как цифры, а не буквы.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7" name="Shape 3"/>
          <p:cNvSpPr/>
          <p:nvPr/>
        </p:nvSpPr>
        <p:spPr>
          <a:xfrm>
            <a:off x="1316086" y="2838780"/>
            <a:ext cx="2619325" cy="561380"/>
          </a:xfrm>
          <a:prstGeom prst="roundRect">
            <a:avLst>
              <a:gd name="adj" fmla="val 7458"/>
            </a:avLst>
          </a:prstGeom>
          <a:solidFill>
            <a:srgbClr val="00EA2D">
              <a:alpha val="67059"/>
            </a:srgbClr>
          </a:solidFill>
          <a:ln w="14288">
            <a:solidFill>
              <a:srgbClr val="C0C1D7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430013" y="2952708"/>
            <a:ext cx="1703189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chemeClr val="bg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r1 … rF, r0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9" name="Text 5"/>
          <p:cNvSpPr/>
          <p:nvPr/>
        </p:nvSpPr>
        <p:spPr>
          <a:xfrm>
            <a:off x="1430014" y="3150426"/>
            <a:ext cx="2404294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Имена регистров в схеме (hex-нумерация)</a:t>
            </a:r>
            <a:endParaRPr lang="en-US" sz="750" dirty="0">
              <a:solidFill>
                <a:schemeClr val="bg1"/>
              </a:solidFill>
            </a:endParaRPr>
          </a:p>
        </p:txBody>
      </p:sp>
      <p:sp>
        <p:nvSpPr>
          <p:cNvPr id="10" name="Shape 6"/>
          <p:cNvSpPr/>
          <p:nvPr/>
        </p:nvSpPr>
        <p:spPr>
          <a:xfrm>
            <a:off x="1316085" y="3599334"/>
            <a:ext cx="2619325" cy="561380"/>
          </a:xfrm>
          <a:prstGeom prst="roundRect">
            <a:avLst>
              <a:gd name="adj" fmla="val 7458"/>
            </a:avLst>
          </a:prstGeom>
          <a:solidFill>
            <a:srgbClr val="00EA2D">
              <a:alpha val="67059"/>
            </a:srgbClr>
          </a:solidFill>
          <a:ln w="14288">
            <a:solidFill>
              <a:srgbClr val="C0C1D7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1430013" y="3713262"/>
            <a:ext cx="1703189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chemeClr val="bg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 бита на клетку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12" name="Text 8"/>
          <p:cNvSpPr/>
          <p:nvPr/>
        </p:nvSpPr>
        <p:spPr>
          <a:xfrm>
            <a:off x="1430013" y="3910980"/>
            <a:ext cx="2200597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Достаточно для кодирования чисел 0–15</a:t>
            </a:r>
            <a:endParaRPr lang="en-US" sz="750" dirty="0">
              <a:solidFill>
                <a:schemeClr val="bg1"/>
              </a:solidFill>
            </a:endParaRPr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9688" y="1108683"/>
            <a:ext cx="3470762" cy="3232338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35500"/>
            <a:ext cx="563399" cy="50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2901" y="431378"/>
            <a:ext cx="4068738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b="1" dirty="0">
                <a:solidFill>
                  <a:schemeClr val="bg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Инициализация поля</a:t>
            </a:r>
            <a:endParaRPr lang="en-US" sz="265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72901" y="1175593"/>
            <a:ext cx="232759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chemeClr val="bg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Начальное состояние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72901" y="1515442"/>
            <a:ext cx="3375198" cy="633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 запуске блок автоинициализации записывает в регистры фиксированную расстановку: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2599283" y="3520083"/>
            <a:ext cx="846088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472900" y="3962846"/>
            <a:ext cx="3375199" cy="633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Через MUX выбирается: начальное значение (при старте) или новое значение после хода игрока.</a:t>
            </a:r>
            <a:endParaRPr lang="en-US" sz="1050" dirty="0">
              <a:solidFill>
                <a:schemeClr val="bg1"/>
              </a:solidFill>
            </a:endParaRPr>
          </a:p>
        </p:txBody>
      </p:sp>
      <p:graphicFrame>
        <p:nvGraphicFramePr>
          <p:cNvPr id="25" name="Таблица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0410546"/>
              </p:ext>
            </p:extLst>
          </p:nvPr>
        </p:nvGraphicFramePr>
        <p:xfrm>
          <a:off x="559124" y="2277400"/>
          <a:ext cx="175891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288"/>
                <a:gridCol w="425167"/>
                <a:gridCol w="442640"/>
                <a:gridCol w="436815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b="1" dirty="0" smtClean="0">
                          <a:solidFill>
                            <a:srgbClr val="00EA2D"/>
                          </a:solidFill>
                        </a:rPr>
                        <a:t>1</a:t>
                      </a:r>
                      <a:endParaRPr lang="ru-RU" b="1" dirty="0">
                        <a:solidFill>
                          <a:srgbClr val="00EA2D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 smtClean="0">
                          <a:solidFill>
                            <a:srgbClr val="00EA2D"/>
                          </a:solidFill>
                        </a:rPr>
                        <a:t>2</a:t>
                      </a:r>
                      <a:endParaRPr lang="ru-RU" b="1" dirty="0">
                        <a:solidFill>
                          <a:srgbClr val="00EA2D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 smtClean="0">
                          <a:solidFill>
                            <a:srgbClr val="00EA2D"/>
                          </a:solidFill>
                        </a:rPr>
                        <a:t>3</a:t>
                      </a:r>
                      <a:endParaRPr lang="ru-RU" b="1" dirty="0">
                        <a:solidFill>
                          <a:srgbClr val="00EA2D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 smtClean="0">
                          <a:solidFill>
                            <a:srgbClr val="00EA2D"/>
                          </a:solidFill>
                        </a:rPr>
                        <a:t>4</a:t>
                      </a:r>
                      <a:endParaRPr lang="ru-RU" b="1" dirty="0">
                        <a:solidFill>
                          <a:srgbClr val="00EA2D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b="1" dirty="0" smtClean="0">
                          <a:solidFill>
                            <a:srgbClr val="00EA2D"/>
                          </a:solidFill>
                        </a:rPr>
                        <a:t>5</a:t>
                      </a:r>
                      <a:endParaRPr lang="ru-RU" b="1" dirty="0">
                        <a:solidFill>
                          <a:srgbClr val="00EA2D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 smtClean="0">
                          <a:solidFill>
                            <a:srgbClr val="00EA2D"/>
                          </a:solidFill>
                        </a:rPr>
                        <a:t>6</a:t>
                      </a:r>
                      <a:endParaRPr lang="ru-RU" b="1" dirty="0">
                        <a:solidFill>
                          <a:srgbClr val="00EA2D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 smtClean="0">
                          <a:solidFill>
                            <a:srgbClr val="00EA2D"/>
                          </a:solidFill>
                        </a:rPr>
                        <a:t>7</a:t>
                      </a:r>
                      <a:endParaRPr lang="ru-RU" b="1" dirty="0">
                        <a:solidFill>
                          <a:srgbClr val="00EA2D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 smtClean="0">
                          <a:solidFill>
                            <a:srgbClr val="00EA2D"/>
                          </a:solidFill>
                        </a:rPr>
                        <a:t>8</a:t>
                      </a:r>
                      <a:endParaRPr lang="ru-RU" b="1" dirty="0">
                        <a:solidFill>
                          <a:srgbClr val="00EA2D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b="1" dirty="0" smtClean="0">
                          <a:solidFill>
                            <a:srgbClr val="00EA2D"/>
                          </a:solidFill>
                        </a:rPr>
                        <a:t>9</a:t>
                      </a:r>
                      <a:endParaRPr lang="ru-RU" b="1" dirty="0">
                        <a:solidFill>
                          <a:srgbClr val="00EA2D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 smtClean="0">
                          <a:solidFill>
                            <a:srgbClr val="00EA2D"/>
                          </a:solidFill>
                        </a:rPr>
                        <a:t>10</a:t>
                      </a:r>
                      <a:endParaRPr lang="ru-RU" b="1" dirty="0">
                        <a:solidFill>
                          <a:srgbClr val="00EA2D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 smtClean="0">
                          <a:solidFill>
                            <a:srgbClr val="00EA2D"/>
                          </a:solidFill>
                        </a:rPr>
                        <a:t>11</a:t>
                      </a:r>
                      <a:endParaRPr lang="ru-RU" b="1" dirty="0">
                        <a:solidFill>
                          <a:srgbClr val="00EA2D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 smtClean="0">
                          <a:solidFill>
                            <a:srgbClr val="00EA2D"/>
                          </a:solidFill>
                        </a:rPr>
                        <a:t>12</a:t>
                      </a:r>
                      <a:endParaRPr lang="ru-RU" b="1" dirty="0">
                        <a:solidFill>
                          <a:srgbClr val="00EA2D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b="1" dirty="0" smtClean="0">
                          <a:solidFill>
                            <a:srgbClr val="00EA2D"/>
                          </a:solidFill>
                        </a:rPr>
                        <a:t>13</a:t>
                      </a:r>
                      <a:endParaRPr lang="ru-RU" b="1" dirty="0">
                        <a:solidFill>
                          <a:srgbClr val="00EA2D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 smtClean="0">
                          <a:solidFill>
                            <a:srgbClr val="00EA2D"/>
                          </a:solidFill>
                        </a:rPr>
                        <a:t>14</a:t>
                      </a:r>
                      <a:endParaRPr lang="ru-RU" b="1" dirty="0">
                        <a:solidFill>
                          <a:srgbClr val="00EA2D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 smtClean="0">
                          <a:solidFill>
                            <a:srgbClr val="00EA2D"/>
                          </a:solidFill>
                        </a:rPr>
                        <a:t>15</a:t>
                      </a:r>
                      <a:endParaRPr lang="ru-RU" b="1" dirty="0">
                        <a:solidFill>
                          <a:srgbClr val="00EA2D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>
                        <a:solidFill>
                          <a:srgbClr val="00EA2D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</a:tr>
            </a:tbl>
          </a:graphicData>
        </a:graphic>
      </p:graphicFrame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0713" y="642528"/>
            <a:ext cx="2408833" cy="38689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35500"/>
            <a:ext cx="563399" cy="50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Рисунок 2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35500"/>
            <a:ext cx="563399" cy="508000"/>
          </a:xfrm>
          <a:prstGeom prst="rect">
            <a:avLst/>
          </a:prstGeom>
        </p:spPr>
      </p:pic>
      <p:sp>
        <p:nvSpPr>
          <p:cNvPr id="24" name="Shape 5"/>
          <p:cNvSpPr/>
          <p:nvPr/>
        </p:nvSpPr>
        <p:spPr>
          <a:xfrm>
            <a:off x="561113" y="1059682"/>
            <a:ext cx="2192273" cy="399901"/>
          </a:xfrm>
          <a:prstGeom prst="rect">
            <a:avLst/>
          </a:prstGeom>
          <a:solidFill>
            <a:srgbClr val="00EA2D">
              <a:alpha val="67059"/>
            </a:srgbClr>
          </a:solidFill>
          <a:ln>
            <a:solidFill>
              <a:schemeClr val="bg1">
                <a:lumMod val="65000"/>
              </a:schemeClr>
            </a:solidFill>
          </a:ln>
        </p:spPr>
      </p:sp>
      <p:sp>
        <p:nvSpPr>
          <p:cNvPr id="3" name="Text 0"/>
          <p:cNvSpPr/>
          <p:nvPr/>
        </p:nvSpPr>
        <p:spPr>
          <a:xfrm>
            <a:off x="457349" y="363289"/>
            <a:ext cx="3937769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b="1" dirty="0">
                <a:solidFill>
                  <a:schemeClr val="bg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Управление </a:t>
            </a:r>
            <a:r>
              <a:rPr lang="ru-RU" sz="2550" b="1" dirty="0" smtClean="0">
                <a:solidFill>
                  <a:schemeClr val="bg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пустой ячейкой</a:t>
            </a:r>
            <a:endParaRPr lang="en-US" sz="2550" dirty="0">
              <a:solidFill>
                <a:schemeClr val="bg1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701325" y="1193089"/>
            <a:ext cx="859269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chemeClr val="bg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 — Вверх</a:t>
            </a:r>
            <a:endParaRPr lang="en-US" sz="1250" dirty="0">
              <a:solidFill>
                <a:schemeClr val="bg1"/>
              </a:solidFill>
            </a:endParaRPr>
          </a:p>
        </p:txBody>
      </p:sp>
      <p:sp>
        <p:nvSpPr>
          <p:cNvPr id="8" name="Shape 5"/>
          <p:cNvSpPr/>
          <p:nvPr/>
        </p:nvSpPr>
        <p:spPr>
          <a:xfrm>
            <a:off x="561113" y="1466727"/>
            <a:ext cx="2192273" cy="399901"/>
          </a:xfrm>
          <a:prstGeom prst="rect">
            <a:avLst/>
          </a:prstGeom>
          <a:solidFill>
            <a:srgbClr val="00EA2D">
              <a:alpha val="67059"/>
            </a:srgbClr>
          </a:solidFill>
          <a:ln>
            <a:solidFill>
              <a:schemeClr val="bg1">
                <a:lumMod val="65000"/>
              </a:schemeClr>
            </a:solidFill>
          </a:ln>
        </p:spPr>
      </p:sp>
      <p:sp>
        <p:nvSpPr>
          <p:cNvPr id="9" name="Shape 6"/>
          <p:cNvSpPr/>
          <p:nvPr/>
        </p:nvSpPr>
        <p:spPr>
          <a:xfrm>
            <a:off x="561119" y="1459583"/>
            <a:ext cx="2192276" cy="14288"/>
          </a:xfrm>
          <a:prstGeom prst="roundRect">
            <a:avLst>
              <a:gd name="adj" fmla="val 384173"/>
            </a:avLst>
          </a:prstGeom>
          <a:solidFill>
            <a:srgbClr val="C0C1D7"/>
          </a:solidFill>
          <a:ln/>
        </p:spPr>
      </p:sp>
      <p:sp>
        <p:nvSpPr>
          <p:cNvPr id="10" name="Text 7"/>
          <p:cNvSpPr/>
          <p:nvPr/>
        </p:nvSpPr>
        <p:spPr>
          <a:xfrm>
            <a:off x="701322" y="1590254"/>
            <a:ext cx="859269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chemeClr val="bg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 — Влево</a:t>
            </a:r>
            <a:endParaRPr lang="en-US" sz="1250" dirty="0">
              <a:solidFill>
                <a:schemeClr val="bg1"/>
              </a:solidFill>
            </a:endParaRPr>
          </a:p>
        </p:txBody>
      </p:sp>
      <p:sp>
        <p:nvSpPr>
          <p:cNvPr id="12" name="Shape 9"/>
          <p:cNvSpPr/>
          <p:nvPr/>
        </p:nvSpPr>
        <p:spPr>
          <a:xfrm>
            <a:off x="561125" y="1871035"/>
            <a:ext cx="2192273" cy="399901"/>
          </a:xfrm>
          <a:prstGeom prst="rect">
            <a:avLst/>
          </a:prstGeom>
          <a:solidFill>
            <a:srgbClr val="00EA2D">
              <a:alpha val="67059"/>
            </a:srgbClr>
          </a:solidFill>
          <a:ln>
            <a:solidFill>
              <a:schemeClr val="bg1">
                <a:lumMod val="65000"/>
              </a:schemeClr>
            </a:solidFill>
          </a:ln>
        </p:spPr>
      </p:sp>
      <p:sp>
        <p:nvSpPr>
          <p:cNvPr id="13" name="Shape 10"/>
          <p:cNvSpPr/>
          <p:nvPr/>
        </p:nvSpPr>
        <p:spPr>
          <a:xfrm>
            <a:off x="561110" y="1863891"/>
            <a:ext cx="2192276" cy="14288"/>
          </a:xfrm>
          <a:prstGeom prst="roundRect">
            <a:avLst>
              <a:gd name="adj" fmla="val 384173"/>
            </a:avLst>
          </a:prstGeom>
          <a:solidFill>
            <a:srgbClr val="C0C1D7"/>
          </a:solidFill>
          <a:ln/>
        </p:spPr>
      </p:sp>
      <p:sp>
        <p:nvSpPr>
          <p:cNvPr id="14" name="Text 11"/>
          <p:cNvSpPr/>
          <p:nvPr/>
        </p:nvSpPr>
        <p:spPr>
          <a:xfrm>
            <a:off x="696557" y="1994562"/>
            <a:ext cx="859269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chemeClr val="bg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 — Вниз</a:t>
            </a:r>
            <a:endParaRPr lang="en-US" sz="1250" dirty="0">
              <a:solidFill>
                <a:schemeClr val="bg1"/>
              </a:solidFill>
            </a:endParaRPr>
          </a:p>
        </p:txBody>
      </p:sp>
      <p:sp>
        <p:nvSpPr>
          <p:cNvPr id="16" name="Shape 13"/>
          <p:cNvSpPr/>
          <p:nvPr/>
        </p:nvSpPr>
        <p:spPr>
          <a:xfrm>
            <a:off x="561125" y="2272069"/>
            <a:ext cx="2192273" cy="399901"/>
          </a:xfrm>
          <a:prstGeom prst="rect">
            <a:avLst/>
          </a:prstGeom>
          <a:solidFill>
            <a:srgbClr val="00EA2D">
              <a:alpha val="67059"/>
            </a:srgbClr>
          </a:solidFill>
          <a:ln>
            <a:solidFill>
              <a:schemeClr val="bg1">
                <a:lumMod val="65000"/>
              </a:schemeClr>
            </a:solidFill>
          </a:ln>
        </p:spPr>
      </p:sp>
      <p:sp>
        <p:nvSpPr>
          <p:cNvPr id="17" name="Shape 14"/>
          <p:cNvSpPr/>
          <p:nvPr/>
        </p:nvSpPr>
        <p:spPr>
          <a:xfrm>
            <a:off x="561110" y="2264925"/>
            <a:ext cx="2192276" cy="14288"/>
          </a:xfrm>
          <a:prstGeom prst="roundRect">
            <a:avLst>
              <a:gd name="adj" fmla="val 384173"/>
            </a:avLst>
          </a:prstGeom>
          <a:solidFill>
            <a:srgbClr val="C0C1D7"/>
          </a:solidFill>
          <a:ln/>
        </p:spPr>
      </p:sp>
      <p:sp>
        <p:nvSpPr>
          <p:cNvPr id="18" name="Text 15"/>
          <p:cNvSpPr/>
          <p:nvPr/>
        </p:nvSpPr>
        <p:spPr>
          <a:xfrm>
            <a:off x="696557" y="2395596"/>
            <a:ext cx="859269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chemeClr val="bg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 — Вправо</a:t>
            </a:r>
            <a:endParaRPr lang="en-US" sz="1250" dirty="0">
              <a:solidFill>
                <a:schemeClr val="bg1"/>
              </a:solidFill>
            </a:endParaRPr>
          </a:p>
        </p:txBody>
      </p:sp>
      <p:sp>
        <p:nvSpPr>
          <p:cNvPr id="20" name="Shape 17"/>
          <p:cNvSpPr/>
          <p:nvPr/>
        </p:nvSpPr>
        <p:spPr>
          <a:xfrm>
            <a:off x="561152" y="3988897"/>
            <a:ext cx="2628750" cy="728588"/>
          </a:xfrm>
          <a:prstGeom prst="roundRect">
            <a:avLst>
              <a:gd name="adj" fmla="val 7534"/>
            </a:avLst>
          </a:prstGeom>
          <a:solidFill>
            <a:srgbClr val="00EA2D">
              <a:alpha val="67059"/>
            </a:srgbClr>
          </a:solidFill>
          <a:ln>
            <a:solidFill>
              <a:schemeClr val="bg1">
                <a:lumMod val="65000"/>
              </a:schemeClr>
            </a:solidFill>
          </a:ln>
        </p:spPr>
      </p:sp>
      <p:sp>
        <p:nvSpPr>
          <p:cNvPr id="22" name="Text 18"/>
          <p:cNvSpPr/>
          <p:nvPr/>
        </p:nvSpPr>
        <p:spPr>
          <a:xfrm>
            <a:off x="664922" y="4089623"/>
            <a:ext cx="2473291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После победы сигнал </a:t>
            </a:r>
            <a:r>
              <a:rPr lang="en-US" sz="900" b="1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</a:t>
            </a:r>
            <a:r>
              <a:rPr lang="en-US" sz="9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блокирует все управляющие входы — дальнейшие ходы невозможны до перезапуска.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5" name="Shape 14"/>
          <p:cNvSpPr/>
          <p:nvPr/>
        </p:nvSpPr>
        <p:spPr>
          <a:xfrm>
            <a:off x="561110" y="2664826"/>
            <a:ext cx="2192276" cy="14288"/>
          </a:xfrm>
          <a:prstGeom prst="roundRect">
            <a:avLst>
              <a:gd name="adj" fmla="val 384173"/>
            </a:avLst>
          </a:prstGeom>
          <a:solidFill>
            <a:srgbClr val="C0C1D7"/>
          </a:solidFill>
          <a:ln/>
        </p:spPr>
      </p:sp>
      <p:sp>
        <p:nvSpPr>
          <p:cNvPr id="26" name="Shape 14"/>
          <p:cNvSpPr/>
          <p:nvPr/>
        </p:nvSpPr>
        <p:spPr>
          <a:xfrm>
            <a:off x="561110" y="1045394"/>
            <a:ext cx="2192276" cy="14288"/>
          </a:xfrm>
          <a:prstGeom prst="roundRect">
            <a:avLst>
              <a:gd name="adj" fmla="val 384173"/>
            </a:avLst>
          </a:prstGeom>
          <a:solidFill>
            <a:srgbClr val="C0C1D7"/>
          </a:solidFill>
          <a:ln/>
        </p:spPr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2467" y="1039929"/>
            <a:ext cx="2800350" cy="266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5" name="Shape 13"/>
          <p:cNvSpPr/>
          <p:nvPr/>
        </p:nvSpPr>
        <p:spPr>
          <a:xfrm>
            <a:off x="561140" y="2679114"/>
            <a:ext cx="2192273" cy="399901"/>
          </a:xfrm>
          <a:prstGeom prst="rect">
            <a:avLst/>
          </a:prstGeom>
          <a:solidFill>
            <a:srgbClr val="00EA2D">
              <a:alpha val="67059"/>
            </a:srgbClr>
          </a:solidFill>
          <a:ln>
            <a:solidFill>
              <a:schemeClr val="bg1">
                <a:lumMod val="65000"/>
              </a:schemeClr>
            </a:solidFill>
          </a:ln>
        </p:spPr>
      </p:sp>
      <p:sp>
        <p:nvSpPr>
          <p:cNvPr id="36" name="Shape 14"/>
          <p:cNvSpPr/>
          <p:nvPr/>
        </p:nvSpPr>
        <p:spPr>
          <a:xfrm>
            <a:off x="561131" y="3073513"/>
            <a:ext cx="2192276" cy="14288"/>
          </a:xfrm>
          <a:prstGeom prst="roundRect">
            <a:avLst>
              <a:gd name="adj" fmla="val 384173"/>
            </a:avLst>
          </a:prstGeom>
          <a:solidFill>
            <a:srgbClr val="C0C1D7"/>
          </a:solidFill>
          <a:ln/>
        </p:spPr>
      </p:sp>
      <p:sp>
        <p:nvSpPr>
          <p:cNvPr id="37" name="Shape 13"/>
          <p:cNvSpPr/>
          <p:nvPr/>
        </p:nvSpPr>
        <p:spPr>
          <a:xfrm>
            <a:off x="561152" y="3087801"/>
            <a:ext cx="2192273" cy="399901"/>
          </a:xfrm>
          <a:prstGeom prst="rect">
            <a:avLst/>
          </a:prstGeom>
          <a:solidFill>
            <a:srgbClr val="00EA2D">
              <a:alpha val="67059"/>
            </a:srgbClr>
          </a:solidFill>
          <a:ln>
            <a:solidFill>
              <a:schemeClr val="bg1">
                <a:lumMod val="65000"/>
              </a:schemeClr>
            </a:solidFill>
          </a:ln>
        </p:spPr>
      </p:sp>
      <p:sp>
        <p:nvSpPr>
          <p:cNvPr id="38" name="Shape 14"/>
          <p:cNvSpPr/>
          <p:nvPr/>
        </p:nvSpPr>
        <p:spPr>
          <a:xfrm>
            <a:off x="561146" y="3487702"/>
            <a:ext cx="2192276" cy="14288"/>
          </a:xfrm>
          <a:prstGeom prst="roundRect">
            <a:avLst>
              <a:gd name="adj" fmla="val 384173"/>
            </a:avLst>
          </a:prstGeom>
          <a:solidFill>
            <a:srgbClr val="C0C1D7"/>
          </a:solidFill>
          <a:ln/>
        </p:spPr>
      </p:sp>
      <p:sp>
        <p:nvSpPr>
          <p:cNvPr id="30" name="Text 3"/>
          <p:cNvSpPr/>
          <p:nvPr/>
        </p:nvSpPr>
        <p:spPr>
          <a:xfrm>
            <a:off x="706113" y="2784791"/>
            <a:ext cx="859269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 smtClean="0">
                <a:solidFill>
                  <a:schemeClr val="bg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Reset </a:t>
            </a:r>
            <a:r>
              <a:rPr lang="en-US" sz="1250" b="1" dirty="0">
                <a:solidFill>
                  <a:schemeClr val="bg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— </a:t>
            </a:r>
            <a:r>
              <a:rPr lang="ru-RU" sz="1250" b="1" dirty="0" smtClean="0">
                <a:solidFill>
                  <a:schemeClr val="bg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Сброс</a:t>
            </a:r>
            <a:endParaRPr lang="en-US" sz="1250" dirty="0">
              <a:solidFill>
                <a:schemeClr val="bg1"/>
              </a:solidFill>
            </a:endParaRPr>
          </a:p>
        </p:txBody>
      </p:sp>
      <p:sp>
        <p:nvSpPr>
          <p:cNvPr id="33" name="Text 3"/>
          <p:cNvSpPr/>
          <p:nvPr/>
        </p:nvSpPr>
        <p:spPr>
          <a:xfrm>
            <a:off x="706113" y="3185692"/>
            <a:ext cx="859269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 smtClean="0">
                <a:solidFill>
                  <a:schemeClr val="bg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Swap </a:t>
            </a:r>
            <a:r>
              <a:rPr lang="en-US" sz="1250" b="1" dirty="0">
                <a:solidFill>
                  <a:schemeClr val="bg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— </a:t>
            </a:r>
            <a:r>
              <a:rPr lang="ru-RU" sz="1250" b="1" dirty="0" smtClean="0">
                <a:solidFill>
                  <a:schemeClr val="bg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Перемешивание</a:t>
            </a:r>
            <a:endParaRPr lang="en-US" sz="125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1311" y="887981"/>
            <a:ext cx="3681687" cy="3693469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2" name="Text 0"/>
          <p:cNvSpPr/>
          <p:nvPr/>
        </p:nvSpPr>
        <p:spPr>
          <a:xfrm>
            <a:off x="674489" y="346770"/>
            <a:ext cx="6767438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chemeClr val="bg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Проверка пустой клетки и логика движения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74489" y="1981126"/>
            <a:ext cx="2053977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chemeClr val="bg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Блок «Проверка на 0»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674489" y="2247602"/>
            <a:ext cx="3759622" cy="487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Каждый регистр сравнивается с нулём через компаратор. Формируются сигналы </a:t>
            </a:r>
            <a:r>
              <a:rPr lang="en-US" sz="850" b="1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kR1 … kR0</a:t>
            </a:r>
            <a:r>
              <a:rPr lang="en-US" sz="85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по одному на каждую клетку. Сигнал активен, если в регистре хранится 0.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74489" y="2824683"/>
            <a:ext cx="18692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chemeClr val="bg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Принцип обмена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674489" y="3091160"/>
            <a:ext cx="4216822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b="1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Направление + позиция пустой клетки = обмен двух регистров.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674489" y="3334494"/>
            <a:ext cx="3759622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Пример: пустая клетка в </a:t>
            </a:r>
            <a:r>
              <a:rPr lang="en-US" sz="850" b="1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r0</a:t>
            </a:r>
            <a:r>
              <a:rPr lang="en-US" sz="85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нажато </a:t>
            </a:r>
            <a:r>
              <a:rPr lang="en-US" sz="850" b="1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LEFT</a:t>
            </a:r>
            <a:r>
              <a:rPr lang="en-US" sz="85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сигнал </a:t>
            </a:r>
            <a:r>
              <a:rPr lang="en-US" sz="850" b="1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LkR0</a:t>
            </a:r>
            <a:r>
              <a:rPr lang="en-US" sz="85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r0 и rF меняются местами.</a:t>
            </a:r>
            <a:endParaRPr lang="en-US" sz="850" dirty="0">
              <a:solidFill>
                <a:schemeClr val="bg1"/>
              </a:solidFill>
            </a:endParaRP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489" y="1016000"/>
            <a:ext cx="177165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35500"/>
            <a:ext cx="563399" cy="50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0640" y="419993"/>
            <a:ext cx="7490445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dirty="0">
                <a:solidFill>
                  <a:schemeClr val="bg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Синхронное обновление и отображение</a:t>
            </a:r>
            <a:endParaRPr lang="en-US" sz="2700" dirty="0">
              <a:solidFill>
                <a:schemeClr val="bg1"/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6021884" y="1181621"/>
            <a:ext cx="2646164" cy="429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chemeClr val="bg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Синхронное обновление регистров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6021884" y="1743670"/>
            <a:ext cx="2646164" cy="1297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Новые значения </a:t>
            </a:r>
            <a:r>
              <a:rPr lang="en-US" sz="1050" b="1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r1Res … r0Res</a:t>
            </a:r>
            <a:r>
              <a:rPr lang="en-US" sz="105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вычисляются комбинационной логикой заранее. Все 16 регистров обновляются </a:t>
            </a:r>
            <a:r>
              <a:rPr lang="en-US" sz="1050" b="1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одновременно</a:t>
            </a:r>
            <a:r>
              <a:rPr lang="en-US" sz="105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по тактовому сигналу — обмен происходит без потери данных.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6021884" y="3174578"/>
            <a:ext cx="2796927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chemeClr val="bg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Отображение на матрицах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6021884" y="3522092"/>
            <a:ext cx="2646164" cy="1081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ROM хранит графические образы чисел. Для </a:t>
            </a:r>
            <a:r>
              <a:rPr lang="en-US" sz="1050" b="1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10–15</a:t>
            </a:r>
            <a:r>
              <a:rPr lang="en-US" sz="105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отдельные двухцифровые изображения (не буквы A–F). Выходы ROM подаются на DotMatrix-индикаторы.</a:t>
            </a:r>
            <a:endParaRPr lang="en-US" sz="1050" dirty="0">
              <a:solidFill>
                <a:schemeClr val="bg1"/>
              </a:solidFill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300" y="1118318"/>
            <a:ext cx="3803650" cy="36645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35500"/>
            <a:ext cx="563399" cy="50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41139"/>
            <a:ext cx="701687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chemeClr val="bg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Перемешивание и проверка победы</a:t>
            </a:r>
            <a:endParaRPr lang="en-US" sz="275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96119" y="1338486"/>
            <a:ext cx="240335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chemeClr val="bg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Блок перемешивания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96119" y="1701701"/>
            <a:ext cx="2628230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Генератор </a:t>
            </a:r>
            <a:r>
              <a:rPr lang="en-US" sz="1100" b="1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Random</a:t>
            </a:r>
            <a:r>
              <a:rPr lang="en-US" sz="11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(2 бита) выбирает одно из четырёх направлений. Перемешивание выполняется </a:t>
            </a:r>
            <a:r>
              <a:rPr lang="en-US" sz="1100" b="1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легальными ходами</a:t>
            </a:r>
            <a:r>
              <a:rPr lang="en-US" sz="11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позиция всегда остаётся решаемой.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496119" y="2977530"/>
            <a:ext cx="286776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chemeClr val="bg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Проверка победы — CDM8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496119" y="3340745"/>
            <a:ext cx="2628230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Процессор CDM8 получает значения всех 16 клеток и проверяет порядок: </a:t>
            </a:r>
            <a:r>
              <a:rPr lang="en-US" sz="1100" b="1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 2, …, 15, 0</a:t>
            </a:r>
            <a:r>
              <a:rPr lang="en-US" sz="11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При совпадении выставляется сигнал </a:t>
            </a:r>
            <a:r>
              <a:rPr lang="en-US" sz="1100" b="1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</a:t>
            </a:r>
            <a:r>
              <a:rPr lang="en-US" sz="11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и </a:t>
            </a:r>
            <a:r>
              <a:rPr lang="en-US" sz="1100" dirty="0" err="1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управление</a:t>
            </a:r>
            <a:r>
              <a:rPr lang="en-US" sz="11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блокируется.</a:t>
            </a:r>
            <a:endParaRPr lang="en-US" sz="1100" dirty="0">
              <a:solidFill>
                <a:schemeClr val="bg1"/>
              </a:solidFill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075" y="1194296"/>
            <a:ext cx="3486150" cy="3448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35500"/>
            <a:ext cx="563399" cy="50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49380" y="261119"/>
            <a:ext cx="2783012" cy="290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chemeClr val="bg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Итоги проекта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149380" y="732284"/>
            <a:ext cx="5254470" cy="620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 проекте реализована полноценная цифровая версия игры «Пятнашки» с аппаратной логикой движения, хранением поля в регистрах и проверкой победы через CDM8.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5" name="Shape 2"/>
          <p:cNvSpPr/>
          <p:nvPr/>
        </p:nvSpPr>
        <p:spPr>
          <a:xfrm>
            <a:off x="354654" y="1918084"/>
            <a:ext cx="2650970" cy="478532"/>
          </a:xfrm>
          <a:prstGeom prst="roundRect">
            <a:avLst>
              <a:gd name="adj" fmla="val 4647"/>
            </a:avLst>
          </a:prstGeom>
          <a:solidFill>
            <a:srgbClr val="00EA2D">
              <a:alpha val="67059"/>
            </a:srgbClr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52434" y="1975408"/>
            <a:ext cx="1620069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chemeClr val="bg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Поле 4×4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9" name="Text 5"/>
          <p:cNvSpPr/>
          <p:nvPr/>
        </p:nvSpPr>
        <p:spPr>
          <a:xfrm>
            <a:off x="452434" y="2157350"/>
            <a:ext cx="2434158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 регистров, хранение и отображение чисел 1–15</a:t>
            </a:r>
            <a:endParaRPr lang="en-US" sz="700" dirty="0">
              <a:solidFill>
                <a:schemeClr val="bg1"/>
              </a:solidFill>
            </a:endParaRPr>
          </a:p>
        </p:txBody>
      </p:sp>
      <p:sp>
        <p:nvSpPr>
          <p:cNvPr id="10" name="Shape 6"/>
          <p:cNvSpPr/>
          <p:nvPr/>
        </p:nvSpPr>
        <p:spPr>
          <a:xfrm>
            <a:off x="344028" y="2542232"/>
            <a:ext cx="2650970" cy="478532"/>
          </a:xfrm>
          <a:prstGeom prst="roundRect">
            <a:avLst>
              <a:gd name="adj" fmla="val 4647"/>
            </a:avLst>
          </a:prstGeom>
          <a:solidFill>
            <a:srgbClr val="00EA2D">
              <a:alpha val="67059"/>
            </a:srgbClr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441808" y="2599556"/>
            <a:ext cx="1620069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chemeClr val="bg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Управление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4" name="Text 9"/>
          <p:cNvSpPr/>
          <p:nvPr/>
        </p:nvSpPr>
        <p:spPr>
          <a:xfrm>
            <a:off x="441808" y="2781498"/>
            <a:ext cx="2434158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Клавиатура WASD и кнопки, блокировка после победы</a:t>
            </a:r>
            <a:endParaRPr lang="en-US" sz="700" dirty="0">
              <a:solidFill>
                <a:schemeClr val="bg1"/>
              </a:solidFill>
            </a:endParaRPr>
          </a:p>
        </p:txBody>
      </p:sp>
      <p:sp>
        <p:nvSpPr>
          <p:cNvPr id="15" name="Shape 10"/>
          <p:cNvSpPr/>
          <p:nvPr/>
        </p:nvSpPr>
        <p:spPr>
          <a:xfrm>
            <a:off x="354654" y="3168179"/>
            <a:ext cx="2650970" cy="478532"/>
          </a:xfrm>
          <a:prstGeom prst="roundRect">
            <a:avLst>
              <a:gd name="adj" fmla="val 4647"/>
            </a:avLst>
          </a:prstGeom>
          <a:solidFill>
            <a:srgbClr val="00EA2D">
              <a:alpha val="67059"/>
            </a:srgbClr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452434" y="3225503"/>
            <a:ext cx="1620069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chemeClr val="bg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Перемешивание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9" name="Text 13"/>
          <p:cNvSpPr/>
          <p:nvPr/>
        </p:nvSpPr>
        <p:spPr>
          <a:xfrm>
            <a:off x="452434" y="3407445"/>
            <a:ext cx="2434158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Легальные ходы через Random-генератор направлений</a:t>
            </a:r>
            <a:endParaRPr lang="en-US" sz="700" dirty="0">
              <a:solidFill>
                <a:schemeClr val="bg1"/>
              </a:solidFill>
            </a:endParaRPr>
          </a:p>
        </p:txBody>
      </p:sp>
      <p:sp>
        <p:nvSpPr>
          <p:cNvPr id="20" name="Shape 14"/>
          <p:cNvSpPr/>
          <p:nvPr/>
        </p:nvSpPr>
        <p:spPr>
          <a:xfrm>
            <a:off x="354654" y="3799780"/>
            <a:ext cx="2650970" cy="478532"/>
          </a:xfrm>
          <a:prstGeom prst="roundRect">
            <a:avLst>
              <a:gd name="adj" fmla="val 4647"/>
            </a:avLst>
          </a:prstGeom>
          <a:solidFill>
            <a:srgbClr val="00EA2D">
              <a:alpha val="67059"/>
            </a:srgbClr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452434" y="3857104"/>
            <a:ext cx="1620069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chemeClr val="bg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Победа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4" name="Text 17"/>
          <p:cNvSpPr/>
          <p:nvPr/>
        </p:nvSpPr>
        <p:spPr>
          <a:xfrm>
            <a:off x="452434" y="4039046"/>
            <a:ext cx="2434158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Проверка порядка через CDM8, сигнал Win</a:t>
            </a:r>
            <a:endParaRPr lang="en-US" sz="700" dirty="0">
              <a:solidFill>
                <a:schemeClr val="bg1"/>
              </a:solidFill>
            </a:endParaRPr>
          </a:p>
        </p:txBody>
      </p:sp>
      <p:pic>
        <p:nvPicPr>
          <p:cNvPr id="21" name="Рисунок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35500"/>
            <a:ext cx="563399" cy="50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253</TotalTime>
  <Words>518</Words>
  <Application>Microsoft Office PowerPoint</Application>
  <PresentationFormat>Экран (16:9)</PresentationFormat>
  <Paragraphs>86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Calibri</vt:lpstr>
      <vt:lpstr>Inter</vt:lpstr>
      <vt:lpstr>Inter Bold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МАЙНЕЗА ХОЧУ</dc:creator>
  <cp:lastModifiedBy>User</cp:lastModifiedBy>
  <cp:revision>19</cp:revision>
  <dcterms:created xsi:type="dcterms:W3CDTF">2026-05-18T13:36:28Z</dcterms:created>
  <dcterms:modified xsi:type="dcterms:W3CDTF">2026-05-19T18:10:47Z</dcterms:modified>
</cp:coreProperties>
</file>